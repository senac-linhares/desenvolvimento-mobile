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9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Score (%)</c:v>
                </c:pt>
              </c:strCache>
            </c:strRef>
          </c:tx>
          <c:spPr>
            <a:solidFill>
              <a:srgbClr val="003366"/>
            </a:solidFill>
            <a:ln w="25400">
              <a:solidFill>
                <a:srgbClr val="002244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iOS Nativo\n(Swift)</c:v>
                </c:pt>
                <c:pt idx="1">
                  <c:v>Android Nativo\n(Kotlin)</c:v>
                </c:pt>
                <c:pt idx="2">
                  <c:v>Flutter</c:v>
                </c:pt>
                <c:pt idx="3">
                  <c:v>React Native</c:v>
                </c:pt>
                <c:pt idx="4">
                  <c:v>Xamarin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98</c:v>
                </c:pt>
                <c:pt idx="2">
                  <c:v>92</c:v>
                </c:pt>
                <c:pt idx="3">
                  <c:v>85</c:v>
                </c:pt>
                <c:pt idx="4">
                  <c:v>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00224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D0E-4D2E-9B46-189B47747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75">
                <a:solidFill>
                  <a:srgbClr val="333333"/>
                </a:solidFill>
                <a:latin typeface="Calibr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>
          <c:spPr>
            <a:ln w="12700">
              <a:solidFill>
                <a:srgbClr val="E6F3FF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333333"/>
                </a:solidFill>
                <a:latin typeface="Calibri"/>
              </a:defRPr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 Relativo (%)</c:v>
                </c:pt>
              </c:strCache>
            </c:strRef>
          </c:tx>
          <c:dPt>
            <c:idx val="0"/>
            <c:bubble3D val="0"/>
            <c:spPr>
              <a:solidFill>
                <a:srgbClr val="FF6600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E26-45E2-AC70-A44A941A35F7}"/>
              </c:ext>
            </c:extLst>
          </c:dPt>
          <c:dPt>
            <c:idx val="1"/>
            <c:bubble3D val="0"/>
            <c:spPr>
              <a:solidFill>
                <a:srgbClr val="003366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E26-45E2-AC70-A44A941A35F7}"/>
              </c:ext>
            </c:extLst>
          </c:dPt>
          <c:dPt>
            <c:idx val="2"/>
            <c:bubble3D val="0"/>
            <c:spPr>
              <a:solidFill>
                <a:srgbClr val="0066CC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DE26-45E2-AC70-A44A941A35F7}"/>
              </c:ext>
            </c:extLst>
          </c:dPt>
          <c:dPt>
            <c:idx val="3"/>
            <c:bubble3D val="0"/>
            <c:spPr>
              <a:solidFill>
                <a:srgbClr val="4A90E2"/>
              </a:solidFill>
              <a:ln w="381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DE26-45E2-AC70-A44A941A35F7}"/>
              </c:ext>
            </c:extLst>
          </c:dPt>
          <c:cat>
            <c:strRef>
              <c:f>Sheet1!$A$2:$A$5</c:f>
              <c:strCache>
                <c:ptCount val="4"/>
                <c:pt idx="0">
                  <c:v>Nativo (iOS + Android)</c:v>
                </c:pt>
                <c:pt idx="1">
                  <c:v>React Native</c:v>
                </c:pt>
                <c:pt idx="2">
                  <c:v>Flutter</c:v>
                </c:pt>
                <c:pt idx="3">
                  <c:v>Xamarin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26-45E2-AC70-A44A941A35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750">
              <a:solidFill>
                <a:srgbClr val="333333"/>
              </a:solidFill>
              <a:latin typeface="Calibri"/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5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image" Target="../media/image1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9.png"/><Relationship Id="rId3" Type="http://schemas.openxmlformats.org/officeDocument/2006/relationships/image" Target="../media/image16.png"/><Relationship Id="rId7" Type="http://schemas.openxmlformats.org/officeDocument/2006/relationships/image" Target="../media/image74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chart" Target="../charts/chart1.xml"/><Relationship Id="rId15" Type="http://schemas.openxmlformats.org/officeDocument/2006/relationships/image" Target="../media/image81.png"/><Relationship Id="rId10" Type="http://schemas.openxmlformats.org/officeDocument/2006/relationships/image" Target="../media/image77.png"/><Relationship Id="rId4" Type="http://schemas.openxmlformats.org/officeDocument/2006/relationships/image" Target="../media/image72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42.png"/><Relationship Id="rId3" Type="http://schemas.openxmlformats.org/officeDocument/2006/relationships/image" Target="../media/image16.png"/><Relationship Id="rId7" Type="http://schemas.openxmlformats.org/officeDocument/2006/relationships/image" Target="../media/image40.png"/><Relationship Id="rId12" Type="http://schemas.openxmlformats.org/officeDocument/2006/relationships/image" Target="../media/image85.png"/><Relationship Id="rId17" Type="http://schemas.openxmlformats.org/officeDocument/2006/relationships/chart" Target="../charts/chart2.xml"/><Relationship Id="rId2" Type="http://schemas.openxmlformats.org/officeDocument/2006/relationships/image" Target="../media/image1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78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84.png"/><Relationship Id="rId4" Type="http://schemas.openxmlformats.org/officeDocument/2006/relationships/image" Target="../media/image82.png"/><Relationship Id="rId9" Type="http://schemas.openxmlformats.org/officeDocument/2006/relationships/image" Target="../media/image41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6.png"/><Relationship Id="rId7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95.png"/><Relationship Id="rId21" Type="http://schemas.openxmlformats.org/officeDocument/2006/relationships/image" Target="../media/image112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5.png"/><Relationship Id="rId2" Type="http://schemas.openxmlformats.org/officeDocument/2006/relationships/image" Target="../media/image1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24" Type="http://schemas.openxmlformats.org/officeDocument/2006/relationships/image" Target="../media/image114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21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16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26" Type="http://schemas.openxmlformats.org/officeDocument/2006/relationships/image" Target="../media/image138.png"/><Relationship Id="rId3" Type="http://schemas.openxmlformats.org/officeDocument/2006/relationships/image" Target="../media/image16.png"/><Relationship Id="rId21" Type="http://schemas.openxmlformats.org/officeDocument/2006/relationships/image" Target="../media/image133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5" Type="http://schemas.openxmlformats.org/officeDocument/2006/relationships/image" Target="../media/image137.png"/><Relationship Id="rId2" Type="http://schemas.openxmlformats.org/officeDocument/2006/relationships/image" Target="../media/image1.png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136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10" Type="http://schemas.openxmlformats.org/officeDocument/2006/relationships/image" Target="../media/image122.png"/><Relationship Id="rId19" Type="http://schemas.openxmlformats.org/officeDocument/2006/relationships/image" Target="../media/image131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Relationship Id="rId27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954" y="1775814"/>
            <a:ext cx="40005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2598264"/>
            <a:ext cx="6153150" cy="1181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0473" y="2604045"/>
            <a:ext cx="6050756" cy="59069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3840" b="1" i="0" noProof="0" dirty="0">
                <a:solidFill>
                  <a:srgbClr val="FFFFFF"/>
                </a:solidFill>
                <a:latin typeface="Inter"/>
              </a:rPr>
              <a:t>Desenvolvimento Mobile: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7214" y="4050506"/>
            <a:ext cx="6376481" cy="535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60" b="0" i="0" noProof="0" dirty="0">
                <a:solidFill>
                  <a:srgbClr val="E6F3FF">
                    <a:alpha val="90000"/>
                  </a:srgbClr>
                </a:solidFill>
                <a:latin typeface="Inter"/>
              </a:rPr>
              <a:t>Comparação técnica de frameworks, performance e estratégias de desenvolvimento para aplicações móveis modernas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3020" y="6038850"/>
            <a:ext cx="3938349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39" b="1" i="0" noProof="0" dirty="0">
                <a:solidFill>
                  <a:srgbClr val="FF6600"/>
                </a:solidFill>
                <a:latin typeface="Inter"/>
              </a:rPr>
              <a:t>Frameworks:</a:t>
            </a:r>
            <a:r>
              <a:rPr lang="pt-BR" sz="1139" b="0" i="0" noProof="0" dirty="0">
                <a:solidFill>
                  <a:srgbClr val="B3D9FF"/>
                </a:solidFill>
                <a:latin typeface="Inter"/>
              </a:rPr>
              <a:t> Swift, </a:t>
            </a:r>
            <a:r>
              <a:rPr lang="pt-BR" sz="1139" b="0" i="0" noProof="0" dirty="0" err="1">
                <a:solidFill>
                  <a:srgbClr val="B3D9FF"/>
                </a:solidFill>
                <a:latin typeface="Inter"/>
              </a:rPr>
              <a:t>Kotlin</a:t>
            </a:r>
            <a:r>
              <a:rPr lang="pt-BR" sz="1139" b="0" i="0" noProof="0" dirty="0">
                <a:solidFill>
                  <a:srgbClr val="B3D9FF"/>
                </a:solidFill>
                <a:latin typeface="Inter"/>
              </a:rPr>
              <a:t>, </a:t>
            </a:r>
            <a:r>
              <a:rPr lang="pt-BR" sz="1139" b="0" i="0" noProof="0" dirty="0" err="1">
                <a:solidFill>
                  <a:srgbClr val="B3D9FF"/>
                </a:solidFill>
                <a:latin typeface="Inter"/>
              </a:rPr>
              <a:t>React</a:t>
            </a:r>
            <a:r>
              <a:rPr lang="pt-BR" sz="1139" b="0" i="0" noProof="0" dirty="0">
                <a:solidFill>
                  <a:srgbClr val="B3D9FF"/>
                </a:solidFill>
                <a:latin typeface="Inter"/>
              </a:rPr>
              <a:t> </a:t>
            </a:r>
            <a:r>
              <a:rPr lang="pt-BR" sz="1139" b="0" i="0" noProof="0" dirty="0" err="1">
                <a:solidFill>
                  <a:srgbClr val="B3D9FF"/>
                </a:solidFill>
                <a:latin typeface="Inter"/>
              </a:rPr>
              <a:t>Native</a:t>
            </a:r>
            <a:r>
              <a:rPr lang="pt-BR" sz="1139" b="0" i="0" noProof="0" dirty="0">
                <a:solidFill>
                  <a:srgbClr val="B3D9FF"/>
                </a:solidFill>
                <a:latin typeface="Inter"/>
              </a:rPr>
              <a:t>, </a:t>
            </a:r>
            <a:r>
              <a:rPr lang="pt-BR" sz="1139" b="0" i="0" noProof="0" dirty="0" err="1">
                <a:solidFill>
                  <a:srgbClr val="B3D9FF"/>
                </a:solidFill>
                <a:latin typeface="Inter"/>
              </a:rPr>
              <a:t>Flutter</a:t>
            </a:r>
            <a:r>
              <a:rPr lang="pt-BR" sz="1139" b="0" i="0" noProof="0" dirty="0">
                <a:solidFill>
                  <a:srgbClr val="B3D9FF"/>
                </a:solidFill>
                <a:latin typeface="Inter"/>
              </a:rPr>
              <a:t>, </a:t>
            </a:r>
            <a:r>
              <a:rPr lang="pt-BR" sz="1139" b="0" i="0" noProof="0" dirty="0" err="1">
                <a:solidFill>
                  <a:srgbClr val="B3D9FF"/>
                </a:solidFill>
                <a:latin typeface="Inter"/>
              </a:rPr>
              <a:t>Xamarin</a:t>
            </a:r>
            <a:endParaRPr lang="pt-BR" sz="1139" b="0" i="0" noProof="0" dirty="0">
              <a:solidFill>
                <a:srgbClr val="B3D9F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9715" y="6296025"/>
            <a:ext cx="1032420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39" b="0" i="0" noProof="0" dirty="0">
                <a:solidFill>
                  <a:srgbClr val="B3D9FF"/>
                </a:solidFill>
                <a:latin typeface="Inter"/>
              </a:rPr>
              <a:t>Fevereiro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4817" y="304800"/>
            <a:ext cx="9402365" cy="4381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 dirty="0" err="1">
                <a:solidFill>
                  <a:srgbClr val="FFFFFF"/>
                </a:solidFill>
                <a:latin typeface="Inter"/>
              </a:rPr>
              <a:t>Desenvolvimento</a:t>
            </a:r>
            <a:r>
              <a:rPr sz="2879" b="1" i="0" dirty="0">
                <a:solidFill>
                  <a:srgbClr val="FFFFFF"/>
                </a:solidFill>
                <a:latin typeface="Inter"/>
              </a:rPr>
              <a:t> Nativo: </a:t>
            </a:r>
            <a:r>
              <a:rPr sz="2879" b="1" i="0" dirty="0" err="1">
                <a:solidFill>
                  <a:srgbClr val="FFFFFF"/>
                </a:solidFill>
                <a:latin typeface="Inter"/>
              </a:rPr>
              <a:t>Definição</a:t>
            </a:r>
            <a:r>
              <a:rPr sz="2879" b="1" i="0" dirty="0">
                <a:solidFill>
                  <a:srgbClr val="FFFFFF"/>
                </a:solidFill>
                <a:latin typeface="Inter"/>
              </a:rPr>
              <a:t> e </a:t>
            </a:r>
            <a:r>
              <a:rPr sz="2879" b="1" i="0" dirty="0" err="1">
                <a:solidFill>
                  <a:srgbClr val="FFFFFF"/>
                </a:solidFill>
                <a:latin typeface="Inter"/>
              </a:rPr>
              <a:t>Características</a:t>
            </a:r>
            <a:endParaRPr sz="2879" b="1" i="0" dirty="0">
              <a:solidFill>
                <a:srgbClr val="FFFFFF"/>
              </a:solidFill>
              <a:latin typeface="Inte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76450"/>
            <a:ext cx="5791200" cy="3514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476500"/>
            <a:ext cx="4838700" cy="2562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7502" y="5206900"/>
            <a:ext cx="2896195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666666"/>
                </a:solidFill>
                <a:latin typeface="Inter"/>
              </a:rPr>
              <a:t>Desenvolvimento nativo para iOS e Android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343025"/>
            <a:ext cx="5791200" cy="541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6500" y="1647825"/>
            <a:ext cx="3443733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03366"/>
                </a:solidFill>
                <a:latin typeface="Inter"/>
              </a:rPr>
              <a:t>Características Principais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114550"/>
            <a:ext cx="5372100" cy="1000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371725"/>
            <a:ext cx="1524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9979" y="2381250"/>
            <a:ext cx="4477256" cy="412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Aplicações desenvolvidas especificamente para  uma plataforma usando linguagens e ferramentas oficiais.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038475"/>
            <a:ext cx="5372100" cy="1000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3295650"/>
            <a:ext cx="209550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89390" y="3301603"/>
            <a:ext cx="4519225" cy="412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Oferece  máxima performance e acesso completo às APIs nativas do sistema operacional.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3952875"/>
            <a:ext cx="5372100" cy="7715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219575"/>
            <a:ext cx="2476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8950" y="4221956"/>
            <a:ext cx="4253865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Utiliza  Swift/Objective-C para iOS e  Kotlin/Java para Android.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4648200"/>
            <a:ext cx="5372100" cy="10001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4905375"/>
            <a:ext cx="200025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9390" y="4910732"/>
            <a:ext cx="4456568" cy="4125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Garante experiência de usuário otimizada seguindo as diretrizes específicas de cada plataforma.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5810250"/>
            <a:ext cx="5143500" cy="628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77000" y="5964435"/>
            <a:ext cx="4536697" cy="323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Vantagem Principal: Desenvolvimento nativo oferece controle total sobre recursos do dispositivo e performance superior.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1754" y="228600"/>
            <a:ext cx="5068341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 dirty="0" err="1">
                <a:solidFill>
                  <a:srgbClr val="FFFFFF"/>
                </a:solidFill>
                <a:latin typeface="Inter"/>
              </a:rPr>
              <a:t>Principais</a:t>
            </a:r>
            <a:r>
              <a:rPr sz="2640" b="1" i="0" dirty="0">
                <a:solidFill>
                  <a:srgbClr val="FFFFFF"/>
                </a:solidFill>
                <a:latin typeface="Inter"/>
              </a:rPr>
              <a:t> Frameworks </a:t>
            </a:r>
            <a:r>
              <a:rPr sz="2640" b="1" i="0" dirty="0" err="1">
                <a:solidFill>
                  <a:srgbClr val="FFFFFF"/>
                </a:solidFill>
                <a:latin typeface="Inter"/>
              </a:rPr>
              <a:t>Nativos</a:t>
            </a:r>
            <a:endParaRPr sz="2640" b="1" i="0" dirty="0">
              <a:solidFill>
                <a:srgbClr val="FFFFFF"/>
              </a:solidFill>
              <a:latin typeface="Inte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1876425"/>
            <a:ext cx="6210300" cy="396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2371725"/>
            <a:ext cx="51435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02767" y="2376338"/>
            <a:ext cx="244286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iOS (Swift/Objective-C)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2790825"/>
            <a:ext cx="5372100" cy="638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09900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1366" y="3012430"/>
            <a:ext cx="28842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Swift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795" y="3012430"/>
            <a:ext cx="193506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é a linguagem moderna da Apple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0875" y="2990850"/>
            <a:ext cx="8382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30909" y="3012430"/>
            <a:ext cx="74384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performance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" y="3295650"/>
            <a:ext cx="5372100" cy="609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505200"/>
            <a:ext cx="19050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9466" y="3505646"/>
            <a:ext cx="334946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Objective-C oferece compatibilidade com código legado.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" y="3790950"/>
            <a:ext cx="5372100" cy="609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010025"/>
            <a:ext cx="180975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0416" y="3992909"/>
            <a:ext cx="3732103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Xcode IDE fornece ferramentas completas de desenvolvimento.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4276725"/>
            <a:ext cx="5372100" cy="638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495800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1366" y="4495353"/>
            <a:ext cx="161627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Acesso total às APIs nativas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1275" y="4476750"/>
            <a:ext cx="9715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623691" y="4495353"/>
            <a:ext cx="87555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ARKit, Core ML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50" y="4781550"/>
            <a:ext cx="5372100" cy="609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4991100"/>
            <a:ext cx="17145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1366" y="4988569"/>
            <a:ext cx="2672000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Performance otimizada para  hardware Apple 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1876425"/>
            <a:ext cx="6210300" cy="396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2371725"/>
            <a:ext cx="5143500" cy="361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63197" y="2376338"/>
            <a:ext cx="2209055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Android (Kotlin/Java)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2790825"/>
            <a:ext cx="5372100" cy="6381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3009900"/>
            <a:ext cx="17145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94016" y="3012430"/>
            <a:ext cx="32117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dirty="0">
                <a:solidFill>
                  <a:srgbClr val="333333"/>
                </a:solidFill>
                <a:latin typeface="Inter"/>
              </a:rPr>
              <a:t>Kotlin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5187" y="3012430"/>
            <a:ext cx="202614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é a linguagem preferida do Google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7350" y="2990850"/>
            <a:ext cx="723900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17384" y="3012430"/>
            <a:ext cx="62998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Java 100%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3295650"/>
            <a:ext cx="5372100" cy="6096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3514725"/>
            <a:ext cx="19050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13066" y="3505646"/>
            <a:ext cx="272632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Java mantém ampla base de código existente.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3790950"/>
            <a:ext cx="5372100" cy="6096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000500"/>
            <a:ext cx="161925" cy="1619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74966" y="3992909"/>
            <a:ext cx="2857440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Android Studio baseado no IntelliJ com profiling.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4276725"/>
            <a:ext cx="5372100" cy="6381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9400" y="4495800"/>
            <a:ext cx="19050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13066" y="4495353"/>
            <a:ext cx="19438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Acesso completo às APIs Android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86825" y="4476750"/>
            <a:ext cx="990600" cy="190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932961" y="4495353"/>
            <a:ext cx="89728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ML Kit, Jetpack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4781550"/>
            <a:ext cx="5372100" cy="6096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4991100"/>
            <a:ext cx="152400" cy="1714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74966" y="4988569"/>
            <a:ext cx="234487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Flexibilidade para  múltiplos fabricantes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85876" y="228600"/>
            <a:ext cx="7220247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Desenvolvimento Multiplataforma: Conceito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1628775"/>
            <a:ext cx="6362700" cy="4467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200275"/>
            <a:ext cx="5143500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" y="2196405"/>
            <a:ext cx="5133082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3366"/>
                </a:solidFill>
                <a:latin typeface="Inter"/>
              </a:rPr>
              <a:t>O que é Desenvolvimento Multiplataforma?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767905"/>
            <a:ext cx="5069056" cy="3677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Abordagem que permite criar aplicações móveis que funcionam em múltiplas plataformas  usando uma </a:t>
            </a:r>
            <a:r>
              <a:rPr sz="1080" b="1" i="0">
                <a:solidFill>
                  <a:srgbClr val="0066CC"/>
                </a:solidFill>
                <a:latin typeface="Inter"/>
              </a:rPr>
              <a:t> única base de código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295650"/>
            <a:ext cx="5372100" cy="676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514725"/>
            <a:ext cx="1905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0995" y="3535709"/>
            <a:ext cx="76482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Código único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5823" y="3535709"/>
            <a:ext cx="156150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para múltiplas plataformas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9950" y="3514725"/>
            <a:ext cx="8191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63379" y="3535709"/>
            <a:ext cx="72360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-50% tempo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3857625"/>
            <a:ext cx="5372100" cy="647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4086225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2895" y="4087117"/>
            <a:ext cx="324707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Redução de  custos de desenvolvimento e manutenção.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4400550"/>
            <a:ext cx="5372100" cy="647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4629150"/>
            <a:ext cx="1905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995" y="4623345"/>
            <a:ext cx="2632561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Equipe  unificada com skillset compartilhado.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4933950"/>
            <a:ext cx="5372100" cy="647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5162550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895" y="5159573"/>
            <a:ext cx="2612469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Deploy simultâneo em todas as plataformas.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0" y="2000250"/>
            <a:ext cx="6400800" cy="37909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2409825"/>
            <a:ext cx="542925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6335" y="304800"/>
            <a:ext cx="7019180" cy="4381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FFFF"/>
                </a:solidFill>
                <a:latin typeface="Inter"/>
              </a:rPr>
              <a:t>Principais Frameworks Multiplataforma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1285875"/>
            <a:ext cx="4181475" cy="5334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828800"/>
            <a:ext cx="301942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5339" y="1829692"/>
            <a:ext cx="1318021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React Native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295525"/>
            <a:ext cx="3257550" cy="885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2524125"/>
            <a:ext cx="18097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0583" y="2520999"/>
            <a:ext cx="116502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Desenvolvido pelo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5610" y="2520999"/>
            <a:ext cx="955923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Facebook/Meta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695575"/>
            <a:ext cx="8667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9554" y="2725042"/>
            <a:ext cx="746968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45% market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3067050"/>
            <a:ext cx="3257550" cy="838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3295650"/>
            <a:ext cx="18097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0583" y="3294757"/>
            <a:ext cx="2519689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Baseado em  JavaScript/TypeScript com sintaxe React familiar.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3800475"/>
            <a:ext cx="3257550" cy="885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4019550"/>
            <a:ext cx="1809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0583" y="4022973"/>
            <a:ext cx="1663749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Componentes nativos reais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4200525"/>
            <a:ext cx="9144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99554" y="4227016"/>
            <a:ext cx="790277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performance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4572000"/>
            <a:ext cx="3257550" cy="838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50" y="4791075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00583" y="4796730"/>
            <a:ext cx="2488733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Hot Reload para desenvolvimento ágil e produtivo.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5295900"/>
            <a:ext cx="3257550" cy="838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675" y="5514975"/>
            <a:ext cx="20955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00583" y="5524946"/>
            <a:ext cx="2083921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Comunidade ativa e  ecossistema maduro de bibliotecas.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10025" y="1466850"/>
            <a:ext cx="4181475" cy="49720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050" y="2009775"/>
            <a:ext cx="3019425" cy="381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55183" y="2010965"/>
            <a:ext cx="681632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Flutter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6750" y="2476500"/>
            <a:ext cx="3257550" cy="7048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43450" y="2695575"/>
            <a:ext cx="180975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12233" y="2725042"/>
            <a:ext cx="74220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Criado pelo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4439" y="2725042"/>
            <a:ext cx="438150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Google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2695575"/>
            <a:ext cx="866775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91560" y="2725042"/>
            <a:ext cx="74339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35% market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3067050"/>
            <a:ext cx="3257550" cy="8382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43450" y="3286125"/>
            <a:ext cx="209550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12233" y="3294757"/>
            <a:ext cx="2258050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Linguagem  Dart otimizada para UI e performance.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6750" y="3800475"/>
            <a:ext cx="3257550" cy="7048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43450" y="4019550"/>
            <a:ext cx="190500" cy="190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016400" y="4045743"/>
            <a:ext cx="1922561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Engine própria de renderização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81825" y="4019550"/>
            <a:ext cx="381000" cy="228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7933" y="4045743"/>
            <a:ext cx="25821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Skia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4391025"/>
            <a:ext cx="3257550" cy="8382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33925" y="4610100"/>
            <a:ext cx="190500" cy="190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12233" y="4615457"/>
            <a:ext cx="2516564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Compilação nativa para ARM e x64 com alta performance.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5114925"/>
            <a:ext cx="3257550" cy="8382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43450" y="5343525"/>
            <a:ext cx="180975" cy="1809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012233" y="5343673"/>
            <a:ext cx="2234386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Crescimento de  45% em 2025 com suporte web/desktop.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15275" y="1381125"/>
            <a:ext cx="4181475" cy="51530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1924050"/>
            <a:ext cx="3019425" cy="381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574708" y="1920329"/>
            <a:ext cx="866030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Xamarin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2390775"/>
            <a:ext cx="3257550" cy="7048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48700" y="2619375"/>
            <a:ext cx="180975" cy="18097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923883" y="2634406"/>
            <a:ext cx="697557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Plataforma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21440" y="2634406"/>
            <a:ext cx="578494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Microsoft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39375" y="2609850"/>
            <a:ext cx="838200" cy="228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298906" y="2634406"/>
            <a:ext cx="71601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15% market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2981325"/>
            <a:ext cx="3257550" cy="8382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48700" y="3209925"/>
            <a:ext cx="180975" cy="18097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923883" y="3204120"/>
            <a:ext cx="2198072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Desenvolvimento em  C#/.NET com tooling robusto.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3714750"/>
            <a:ext cx="3257550" cy="885825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48700" y="3933825"/>
            <a:ext cx="209550" cy="1905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923883" y="3932336"/>
            <a:ext cx="202108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Acesso completo às APIs nativas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63025" y="4114800"/>
            <a:ext cx="1095375" cy="2286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022853" y="4136380"/>
            <a:ext cx="97720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100% cobertura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4486275"/>
            <a:ext cx="3257550" cy="8382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48700" y="4705350"/>
            <a:ext cx="180975" cy="1905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923883" y="4706094"/>
            <a:ext cx="2188696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Integração enterprise com Azure e Office 365.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5210175"/>
            <a:ext cx="3257550" cy="8382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48700" y="5448300"/>
            <a:ext cx="180975" cy="1714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923883" y="5434310"/>
            <a:ext cx="2034063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Migração para  .NET MAUI como sucessor moderno.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19251" y="228600"/>
            <a:ext cx="6553348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Performance: Nativo vs Multiplataforma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857375"/>
            <a:ext cx="6362700" cy="4000500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9669" y="2352675"/>
          <a:ext cx="52959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581150"/>
            <a:ext cx="5791200" cy="4562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152650"/>
            <a:ext cx="4562475" cy="40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61869" y="2147887"/>
            <a:ext cx="2855416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3366"/>
                </a:solidFill>
                <a:latin typeface="Inter"/>
              </a:rPr>
              <a:t>Análise de Performance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2609850"/>
            <a:ext cx="4800600" cy="676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75" y="2838450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5165" y="2846933"/>
            <a:ext cx="3689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Nativo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110" y="2846933"/>
            <a:ext cx="248170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mantém vantagem em performance crítica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4125" y="2828925"/>
            <a:ext cx="61912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01870" y="2846933"/>
            <a:ext cx="52714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95-100%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3171825"/>
            <a:ext cx="4800600" cy="647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0875" y="3390900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56115" y="3398341"/>
            <a:ext cx="277975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Flutter alcança performance próxima ao nativo.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3714750"/>
            <a:ext cx="4800600" cy="647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0400" y="3943350"/>
            <a:ext cx="1905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94215" y="3934569"/>
            <a:ext cx="2653545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React Native oferece boa performance geral.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4248150"/>
            <a:ext cx="4800600" cy="647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10400" y="4476750"/>
            <a:ext cx="1524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56115" y="4470796"/>
            <a:ext cx="2847022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Gap de performance  diminuindo continuamente.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0" y="4914900"/>
            <a:ext cx="4572000" cy="590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21859" y="5037534"/>
            <a:ext cx="4184094" cy="3134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1">
                <a:solidFill>
                  <a:srgbClr val="003366"/>
                </a:solidFill>
                <a:latin typeface="Inter"/>
              </a:rPr>
              <a:t>Tendência 2025:</a:t>
            </a:r>
            <a:r>
              <a:rPr sz="960" b="0" i="1">
                <a:solidFill>
                  <a:srgbClr val="333333"/>
                </a:solidFill>
                <a:latin typeface="Inter"/>
              </a:rPr>
              <a:t> Diferença reduzida para menos de 5% na maioria das aplicações.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8430" y="228600"/>
            <a:ext cx="5874990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Custo e Tempo de Desenvolvimento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362075"/>
            <a:ext cx="5791200" cy="4991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933575"/>
            <a:ext cx="4562475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5869" y="1934765"/>
            <a:ext cx="2265164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3366"/>
                </a:solidFill>
                <a:latin typeface="Inter"/>
              </a:rPr>
              <a:t>Análise Econômica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390775"/>
            <a:ext cx="4800600" cy="676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619375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0115" y="2633811"/>
            <a:ext cx="3689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Nativo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9060" y="2633811"/>
            <a:ext cx="210353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requer duas equipes especializadas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609850"/>
            <a:ext cx="4953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08648" y="2633811"/>
            <a:ext cx="40377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+100%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952750"/>
            <a:ext cx="4800600" cy="676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181350"/>
            <a:ext cx="1905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98215" y="3200400"/>
            <a:ext cx="90204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Multiplataforma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262" y="3200400"/>
            <a:ext cx="123140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usa equipe unificada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2800" y="3171825"/>
            <a:ext cx="419100" cy="200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07717" y="3200400"/>
            <a:ext cx="33144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-40%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524250"/>
            <a:ext cx="4800600" cy="647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752850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0115" y="3751808"/>
            <a:ext cx="2918608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Tempo reduzido em  35-50% com cross-platform.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4057650"/>
            <a:ext cx="4800600" cy="6762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4286250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60115" y="4303216"/>
            <a:ext cx="71690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Manutenção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7020" y="4303216"/>
            <a:ext cx="72568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simplificada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4276725"/>
            <a:ext cx="419100" cy="2000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678757" y="4303216"/>
            <a:ext cx="32831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-60%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629150"/>
            <a:ext cx="4800600" cy="647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4848225"/>
            <a:ext cx="171450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0115" y="4854624"/>
            <a:ext cx="2694027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Time-to-market  acelerado significativamente.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5286375"/>
            <a:ext cx="4572000" cy="4191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5859" y="5421362"/>
            <a:ext cx="3983027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1">
                <a:solidFill>
                  <a:srgbClr val="003366"/>
                </a:solidFill>
                <a:latin typeface="Inter"/>
              </a:rPr>
              <a:t>ROI:</a:t>
            </a:r>
            <a:r>
              <a:rPr sz="960" b="0" i="1">
                <a:solidFill>
                  <a:srgbClr val="333333"/>
                </a:solidFill>
                <a:latin typeface="Inter"/>
              </a:rPr>
              <a:t> Economia de 30-40% nos custos totais e 50% na manutenção.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76900" y="1857375"/>
            <a:ext cx="6362700" cy="4000500"/>
          </a:xfrm>
          <a:prstGeom prst="rect">
            <a:avLst/>
          </a:prstGeom>
        </p:spPr>
      </p:pic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206430" y="2352675"/>
          <a:ext cx="5295900" cy="293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2281" y="228600"/>
            <a:ext cx="6167288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Market Share dos Frameworks (2025)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925" y="1123950"/>
            <a:ext cx="8058150" cy="5543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21634" y="1992213"/>
            <a:ext cx="1748730" cy="923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3366"/>
                </a:solidFill>
                <a:latin typeface="Inter"/>
              </a:rPr>
              <a:t>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462" y="2992338"/>
            <a:ext cx="6023074" cy="2952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0066CC"/>
                </a:solidFill>
                <a:latin typeface="Inter"/>
              </a:rPr>
              <a:t>dos novos apps usam frameworks multiplataforma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5100" y="3324225"/>
            <a:ext cx="241935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94199" y="3687663"/>
            <a:ext cx="634751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6600"/>
                </a:solidFill>
                <a:latin typeface="Inter"/>
              </a:rPr>
              <a:t>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7935" y="4066728"/>
            <a:ext cx="847129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React Native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575" y="4286250"/>
            <a:ext cx="9144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09975" y="4321075"/>
            <a:ext cx="697408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E7D32"/>
                </a:solidFill>
                <a:latin typeface="Inter"/>
              </a:rPr>
              <a:t>+5% vs 2024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725" y="4324350"/>
            <a:ext cx="66675" cy="104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324225"/>
            <a:ext cx="241935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82716" y="3687663"/>
            <a:ext cx="626268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6600"/>
                </a:solidFill>
                <a:latin typeface="Inter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6776" y="4066728"/>
            <a:ext cx="438150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Flutter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225" y="4286250"/>
            <a:ext cx="96202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70959" y="4321075"/>
            <a:ext cx="74428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E7D32"/>
                </a:solidFill>
                <a:latin typeface="Inter"/>
              </a:rPr>
              <a:t>+12% vs 2024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375" y="4324350"/>
            <a:ext cx="66675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3324225"/>
            <a:ext cx="2419350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96535" y="3687663"/>
            <a:ext cx="567481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6600"/>
                </a:solidFill>
                <a:latin typeface="Inter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130" y="4066728"/>
            <a:ext cx="1328142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3366"/>
                </a:solidFill>
                <a:latin typeface="Inter"/>
              </a:rPr>
              <a:t>Xamarin/.NET MAUI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9075" y="4286250"/>
            <a:ext cx="89535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88944" y="4321075"/>
            <a:ext cx="676870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2E7D32"/>
                </a:solidFill>
                <a:latin typeface="Inter"/>
              </a:rPr>
              <a:t>-3% vs 2024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225" y="4324350"/>
            <a:ext cx="66675" cy="1047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3700" y="4886325"/>
            <a:ext cx="6324600" cy="762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13087" y="5056286"/>
            <a:ext cx="2538561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333333"/>
                </a:solidFill>
                <a:latin typeface="Inter"/>
              </a:rPr>
              <a:t>Crescimento de 20% desde 2023: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1649" y="5056286"/>
            <a:ext cx="2665214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3333"/>
                </a:solidFill>
                <a:latin typeface="Inter"/>
              </a:rPr>
              <a:t> A adoção acelera com melhorias 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5657" y="5284886"/>
            <a:ext cx="2046684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066CC"/>
                </a:solidFill>
                <a:latin typeface="Inter"/>
              </a:rPr>
              <a:t>performance e ferramentas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341" y="5284886"/>
            <a:ext cx="1091951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333333"/>
                </a:solidFill>
                <a:latin typeface="Inter"/>
              </a:rPr>
              <a:t> mais maduras.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047875"/>
            <a:ext cx="5619750" cy="3552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47875"/>
            <a:ext cx="5619750" cy="3552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34035" y="228600"/>
            <a:ext cx="5723780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Quando Escolher Cada Abordagem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" y="1800225"/>
            <a:ext cx="6210300" cy="4124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95525"/>
            <a:ext cx="512445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59967" y="2414438"/>
            <a:ext cx="1547366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Escolha Nativo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886075"/>
            <a:ext cx="5353050" cy="638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095625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0416" y="3096220"/>
            <a:ext cx="113570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Performance crítica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6123" y="3096220"/>
            <a:ext cx="63653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é requisito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725" y="3086100"/>
            <a:ext cx="9144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98712" y="3096220"/>
            <a:ext cx="82391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games, AR/VR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390900"/>
            <a:ext cx="5353050" cy="609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3609975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8516" y="3589436"/>
            <a:ext cx="309318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Acesso extensivo às  APIs específicas da plataforma.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86200"/>
            <a:ext cx="5353050" cy="638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4105275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0416" y="4091880"/>
            <a:ext cx="94118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UX customizada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1605" y="4091880"/>
            <a:ext cx="118869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seguindo guidelines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14675" y="4086225"/>
            <a:ext cx="809625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156346" y="4091880"/>
            <a:ext cx="72107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Material/HIG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391025"/>
            <a:ext cx="5353050" cy="609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4600575"/>
            <a:ext cx="152400" cy="1619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0416" y="4585096"/>
            <a:ext cx="279701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Requisitos de  segurança máxima e compliance.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876800"/>
            <a:ext cx="5353050" cy="609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" y="5095875"/>
            <a:ext cx="1905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8516" y="5072360"/>
            <a:ext cx="2922329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Equipe especializada em  desenvolvimento nativo 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2650" y="1800225"/>
            <a:ext cx="6210300" cy="41243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295525"/>
            <a:ext cx="5124450" cy="533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09607" y="2414438"/>
            <a:ext cx="2535435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3366"/>
                </a:solidFill>
                <a:latin typeface="Inter"/>
              </a:rPr>
              <a:t>Escolha Multiplataforma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886075"/>
            <a:ext cx="5353050" cy="6381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8450" y="3105150"/>
            <a:ext cx="15240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94016" y="3096220"/>
            <a:ext cx="90814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Time-to-market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2165" y="3096220"/>
            <a:ext cx="133543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acelerado é prioridade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72575" y="3086100"/>
            <a:ext cx="838200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13651" y="3096220"/>
            <a:ext cx="74428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MVP, startup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390900"/>
            <a:ext cx="5353050" cy="6096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8450" y="3609975"/>
            <a:ext cx="152400" cy="152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94016" y="3589436"/>
            <a:ext cx="289092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Orçamento limitado requer  otimização de custos 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886200"/>
            <a:ext cx="5353050" cy="6381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48450" y="4105275"/>
            <a:ext cx="152400" cy="152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94016" y="4091880"/>
            <a:ext cx="137740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Funcionalidades padrão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1420" y="4091880"/>
            <a:ext cx="113243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 atendem requisitos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39275" y="4086225"/>
            <a:ext cx="838200" cy="1905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479905" y="4091880"/>
            <a:ext cx="74473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CRUD, social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391025"/>
            <a:ext cx="5353050" cy="6096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8450" y="4610100"/>
            <a:ext cx="190500" cy="16192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32116" y="4585096"/>
            <a:ext cx="313857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Equipe pequena precisa de  manutenção simplificada .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876800"/>
            <a:ext cx="5353050" cy="6096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5086350"/>
            <a:ext cx="152400" cy="1714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894016" y="5072360"/>
            <a:ext cx="2950458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333333"/>
                </a:solidFill>
                <a:latin typeface="Inter"/>
              </a:rPr>
              <a:t>Lançamento simultâneo em múltiplas plataformas.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1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37173" y="228600"/>
            <a:ext cx="5517653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Inter"/>
              </a:rPr>
              <a:t>Tendências e Futuro (2025-2026)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" y="790575"/>
            <a:ext cx="6324600" cy="422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285875"/>
            <a:ext cx="52578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5308" y="1283493"/>
            <a:ext cx="2131069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3366"/>
                </a:solidFill>
                <a:latin typeface="Inter"/>
              </a:rPr>
              <a:t>Principais Tendências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276350"/>
            <a:ext cx="2381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1685925"/>
            <a:ext cx="5486400" cy="628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895475"/>
            <a:ext cx="171450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4216" y="1900535"/>
            <a:ext cx="1143744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AI-First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7960" y="1900535"/>
            <a:ext cx="190931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 integrado em 87% dos novos apps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2400" y="1885950"/>
            <a:ext cx="371475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03327" y="1900535"/>
            <a:ext cx="28247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2026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2181225"/>
            <a:ext cx="5486400" cy="600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390775"/>
            <a:ext cx="1714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4216" y="2383928"/>
            <a:ext cx="366846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Gap de performance  nativo vs multiplataforma reduzido para &lt;5%.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2657475"/>
            <a:ext cx="5486400" cy="628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867025"/>
            <a:ext cx="171450" cy="142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4216" y="2871192"/>
            <a:ext cx="76839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WebAssembly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2616" y="2871192"/>
            <a:ext cx="197986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 emergindo para performance crítica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2857500"/>
            <a:ext cx="457200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98527" y="2871192"/>
            <a:ext cx="36165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WASM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3152775"/>
            <a:ext cx="5486400" cy="600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362325"/>
            <a:ext cx="171450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4216" y="3354585"/>
            <a:ext cx="3655516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Cloud-Native Development com backend-as-a-service dominante.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3629025"/>
            <a:ext cx="5486400" cy="6000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838575"/>
            <a:ext cx="12382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6144" y="3826668"/>
            <a:ext cx="3231653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333333"/>
                </a:solidFill>
                <a:latin typeface="Inter"/>
              </a:rPr>
              <a:t>Convergência</a:t>
            </a:r>
            <a:r>
              <a:rPr sz="900" b="0" i="0" dirty="0">
                <a:solidFill>
                  <a:srgbClr val="333333"/>
                </a:solidFill>
                <a:latin typeface="Inter"/>
              </a:rPr>
              <a:t>  mobile-web-desktop com PWAs </a:t>
            </a:r>
            <a:r>
              <a:rPr sz="900" b="0" i="0" dirty="0" err="1">
                <a:solidFill>
                  <a:srgbClr val="333333"/>
                </a:solidFill>
                <a:latin typeface="Inter"/>
              </a:rPr>
              <a:t>avançadas</a:t>
            </a:r>
            <a:r>
              <a:rPr sz="900" b="0" i="0" dirty="0">
                <a:solidFill>
                  <a:srgbClr val="333333"/>
                </a:solidFill>
                <a:latin typeface="Inter"/>
              </a:rPr>
              <a:t>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790575"/>
            <a:ext cx="6324600" cy="42291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285875"/>
            <a:ext cx="5257800" cy="3429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49330" y="1283493"/>
            <a:ext cx="1511200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3366"/>
                </a:solidFill>
                <a:latin typeface="Inter"/>
              </a:rPr>
              <a:t>Previsões 2026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1685925"/>
            <a:ext cx="5486400" cy="628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1895475"/>
            <a:ext cx="12382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07844" y="1900535"/>
            <a:ext cx="130284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75% dos novos projetos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686" y="1900535"/>
            <a:ext cx="194920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 usarão frameworks multiplataforma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6500" y="1885950"/>
            <a:ext cx="400050" cy="1809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135939" y="1900535"/>
            <a:ext cx="30494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+13%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2181225"/>
            <a:ext cx="5486400" cy="600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2390775"/>
            <a:ext cx="133350" cy="1428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15137" y="2383928"/>
            <a:ext cx="3745110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Flutter alcançará 45% de market share com expansão web/desktop.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2657475"/>
            <a:ext cx="5486400" cy="6000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2867025"/>
            <a:ext cx="142875" cy="14287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21537" y="2856011"/>
            <a:ext cx="370403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Apple Silicon e chips ARM otimizarão performance multiplataforma.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3124200"/>
            <a:ext cx="5486400" cy="6000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1300" y="3333750"/>
            <a:ext cx="142875" cy="1428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21537" y="3328094"/>
            <a:ext cx="3310681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Ferramentas de  low-code/no-code para mobile mainstream.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3600450"/>
            <a:ext cx="5486400" cy="6000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3810000"/>
            <a:ext cx="142875" cy="1428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21537" y="3800177"/>
            <a:ext cx="3380184" cy="142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Inter"/>
              </a:rPr>
              <a:t>Security-by-design obrigatório com regulamentações rígidas.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8600" y="4914900"/>
            <a:ext cx="11734800" cy="16859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6250" y="5162550"/>
            <a:ext cx="11239500" cy="3429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5926" y="5164931"/>
            <a:ext cx="2868364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003366"/>
                </a:solidFill>
                <a:latin typeface="Inter"/>
              </a:rPr>
              <a:t>Recomendações Estratégicas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6250" y="5143500"/>
            <a:ext cx="180975" cy="2571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1950" y="5534025"/>
            <a:ext cx="3876675" cy="11811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0075" y="5781675"/>
            <a:ext cx="3400425" cy="1809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924198" y="6008786"/>
            <a:ext cx="74890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3366"/>
                </a:solidFill>
                <a:latin typeface="Inter"/>
              </a:rPr>
              <a:t>Capacitação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532" y="6187826"/>
            <a:ext cx="3363575" cy="261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333"/>
                </a:solidFill>
                <a:latin typeface="Inter"/>
              </a:rPr>
              <a:t>Invista em treinamento multiplataforma. Flutter e React Native são prioridades.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62425" y="5534025"/>
            <a:ext cx="3876675" cy="11811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00550" y="5772150"/>
            <a:ext cx="3400425" cy="1905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516760" y="6008786"/>
            <a:ext cx="115832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3366"/>
                </a:solidFill>
                <a:latin typeface="Inter"/>
              </a:rPr>
              <a:t>Abordagem Híbrida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0017" y="6187826"/>
            <a:ext cx="3385155" cy="261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333"/>
                </a:solidFill>
                <a:latin typeface="Inter"/>
              </a:rPr>
              <a:t>Combine nativo para funcionalidades críticas com multiplataforma para features padrão.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53375" y="5534025"/>
            <a:ext cx="3876675" cy="11811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91500" y="5772150"/>
            <a:ext cx="3400425" cy="1905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344025" y="6008786"/>
            <a:ext cx="109820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3366"/>
                </a:solidFill>
                <a:latin typeface="Inter"/>
              </a:rPr>
              <a:t>Estratégia Gradual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02662" y="6187826"/>
            <a:ext cx="3434417" cy="261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333333"/>
                </a:solidFill>
                <a:latin typeface="Inter"/>
              </a:rPr>
              <a:t>Comece com </a:t>
            </a:r>
            <a:r>
              <a:rPr sz="839" b="1" i="0">
                <a:solidFill>
                  <a:srgbClr val="333333"/>
                </a:solidFill>
                <a:latin typeface="Inter"/>
              </a:rPr>
              <a:t> multiplataforma</a:t>
            </a:r>
            <a:r>
              <a:rPr sz="839" b="0" i="0">
                <a:solidFill>
                  <a:srgbClr val="333333"/>
                </a:solidFill>
                <a:latin typeface="Inter"/>
              </a:rPr>
              <a:t> para validação, migre para nativo se necessário.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789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Inter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Welton Castoldi</dc:creator>
  <cp:keywords/>
  <dc:description>generated using python-pptx</dc:description>
  <cp:lastModifiedBy>Welton Castoldi</cp:lastModifiedBy>
  <cp:revision>2</cp:revision>
  <dcterms:created xsi:type="dcterms:W3CDTF">2013-01-27T09:14:16Z</dcterms:created>
  <dcterms:modified xsi:type="dcterms:W3CDTF">2026-02-12T23:55:00Z</dcterms:modified>
  <cp:category/>
</cp:coreProperties>
</file>